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000" y="1400000"/>
            <a:ext cx="60000" cy="2600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00" y="16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200" b="1">
                <a:solidFill>
                  <a:srgbClr val="7A0E1E"/>
                </a:solidFill>
                <a:latin typeface="微软雅黑"/>
              </a:defRPr>
            </a:pPr>
            <a:r>
              <a:t>湘潭大学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2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大数据分析与数据挖掘 · 课程设计答辩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30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defRPr sz="2400" b="1">
                <a:solidFill>
                  <a:srgbClr val="2D2D2D"/>
                </a:solidFill>
                <a:latin typeface="微软雅黑"/>
              </a:defRPr>
            </a:pPr>
            <a:r>
              <a:t>基于机器学习与强化学习的</a:t>
            </a:r>
            <a:br/>
            <a:r>
              <a:t>股票交易策略建模及量化风险评估研究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0000" y="3900000"/>
            <a:ext cx="3000000" cy="1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4100000"/>
            <a:ext cx="5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学    院：自动化与电子信息学院</a:t>
            </a:r>
          </a:p>
          <a:p>
            <a:pPr algn="l">
              <a:lnSpc>
                <a:spcPts val="2300"/>
              </a:lnSpc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专    业：人工智能</a:t>
            </a:r>
          </a:p>
          <a:p>
            <a:pPr algn="l">
              <a:lnSpc>
                <a:spcPts val="2300"/>
              </a:lnSpc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姓    名：【待补充】</a:t>
            </a:r>
          </a:p>
          <a:p>
            <a:pPr algn="l">
              <a:lnSpc>
                <a:spcPts val="2300"/>
              </a:lnSpc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学    号：【待补充】</a:t>
            </a:r>
          </a:p>
          <a:p>
            <a:pPr algn="l">
              <a:lnSpc>
                <a:spcPts val="2300"/>
              </a:lnSpc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指导教师：【待补充】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0" y="58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2026 年 6 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0000" y="110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15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114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研究背景与任务目标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0000" y="150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0000" y="166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171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170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总体技术路线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0000" y="206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000" y="222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00" y="227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00" y="226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数据获取与预处理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0000" y="262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0000" y="278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00" y="283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000" y="282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特征工程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0000" y="318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0000" y="334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0000" y="339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00" y="338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机器学习模型结果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0000" y="374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0000" y="390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000" y="395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000" y="394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LSTM 模型结果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0000" y="430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0000" y="446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000" y="451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000" y="450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回测与风险评估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0000" y="486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0000" y="502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000" y="507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" y="506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强化学习与 Q-learning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0000" y="5420000"/>
            <a:ext cx="9000000" cy="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0000" y="5580000"/>
            <a:ext cx="320000" cy="320000"/>
          </a:xfrm>
          <a:prstGeom prst="ellipse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0000" y="5630000"/>
            <a:ext cx="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000" y="562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研究背景与任务目标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5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7A0E1E"/>
                </a:solidFill>
                <a:latin typeface="微软雅黑"/>
              </a:defRPr>
            </a:pPr>
            <a:r>
              <a:t>为什么研究这个问题？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400000"/>
            <a:ext cx="5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金融时间序列具有高噪声、非线性和时序性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短期方向信号较弱，复杂模型不一定优于简单基线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收益表现必须结合最大回撤与尾部风险共同解释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31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7A0E1E"/>
                </a:solidFill>
                <a:latin typeface="微软雅黑"/>
              </a:defRPr>
            </a:pPr>
            <a:r>
              <a:t>本项目要完成什么？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3550000"/>
            <a:ext cx="5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数据准备：获取、清洗并检查 SPY 日线数据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模型预测：比较逻辑回归、随机森林与 LSTM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风险评估：计算回撤、Sharpe、VaR 与 CVaR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强化学习：完成简化环境与 Q-learning 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0" y="1200000"/>
            <a:ext cx="4500000" cy="380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0000" y="1500000"/>
            <a:ext cx="3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实验定位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2100000"/>
            <a:ext cx="39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用于课程方法验证与风险意识训练</a:t>
            </a:r>
            <a:br/>
            <a:r>
              <a:t>不构成任何实际投资建议</a:t>
            </a:r>
            <a:br/>
            <a:br/>
            <a:r>
              <a:t>以 SPY ETF 为研究对象</a:t>
            </a:r>
            <a:br/>
            <a:r>
              <a:t>覆盖 2015-2025 年日线数据</a:t>
            </a:r>
            <a:br/>
            <a:r>
              <a:t>完成 ML / DL / RL 三层方法对比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总体技术路线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000" y="10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0" y="10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7A0E1E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" y="12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数据获取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14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Yahoo Finance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65000" y="1230000"/>
            <a:ext cx="130000" cy="13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10000" y="10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0000" y="10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7A0E1E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0000" y="12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数据清洗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0000" y="14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质量检查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25000" y="1230000"/>
            <a:ext cx="130000" cy="13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70000" y="10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0000" y="10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7A0E1E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0000" y="12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特征工程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000" y="14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9 项技术特征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685000" y="1230000"/>
            <a:ext cx="130000" cy="13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30000" y="10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0000" y="10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7A0E1E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0000" y="12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ML 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0000" y="14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LR / RF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" y="21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0" y="21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1A5C8A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0" y="23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LSTM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0" y="25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 日窗口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65000" y="2330000"/>
            <a:ext cx="130000" cy="13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10000" y="21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0000" y="21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1A5C8A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0000" y="23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风险评估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0000" y="25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Sharpe / VaR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225000" y="2330000"/>
            <a:ext cx="130000" cy="13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70000" y="21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0000" y="21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1A5C8A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90000" y="23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Q-learning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90000" y="25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状态/动作/奖励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685000" y="2330000"/>
            <a:ext cx="130000" cy="13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30000" y="2100000"/>
            <a:ext cx="1300000" cy="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50000" y="21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1A5C8A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0000" y="232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2D2D2D"/>
                </a:solidFill>
                <a:latin typeface="微软雅黑"/>
              </a:defRPr>
            </a:pPr>
            <a:r>
              <a:t>综合分析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0000" y="2500000"/>
            <a:ext cx="126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结论与边界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000" y="4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关键原则：按时间顺序划分训练/测试 | 信号用于下一期收益 | 如实呈现所有结果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000" y="47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Python 3.10  |  yfinance  |  pandas  |  scikit-learn  |  PyTorch  |  matplotlib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数据获取与预处理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000" y="950000"/>
            <a:ext cx="28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990000"/>
            <a:ext cx="27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7A0E1E"/>
                </a:solidFill>
                <a:latin typeface="微软雅黑"/>
              </a:defRPr>
            </a:pPr>
            <a:r>
              <a:t>2766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40000"/>
            <a:ext cx="27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交易日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0" y="950000"/>
            <a:ext cx="28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0000" y="990000"/>
            <a:ext cx="27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7A0E1E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000" y="1240000"/>
            <a:ext cx="27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核心字段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0000" y="950000"/>
            <a:ext cx="28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0000" y="990000"/>
            <a:ext cx="27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7A0E1E"/>
                </a:solidFill>
                <a:latin typeface="微软雅黑"/>
              </a:defRPr>
            </a:pPr>
            <a:r>
              <a:t>2015-2025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0000" y="1240000"/>
            <a:ext cx="27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覆盖区间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17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>
                <a:solidFill>
                  <a:srgbClr val="7A0E1E"/>
                </a:solidFill>
                <a:latin typeface="微软雅黑"/>
              </a:defRPr>
            </a:pPr>
            <a:r>
              <a:t>预处理步骤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2100000"/>
            <a:ext cx="4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字段筛选：Open / High / Low / Close / Adj Close / Volume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缺失值处理：前向填充 + 后向填充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日期去重、异常检查、时间排序</a:t>
            </a:r>
          </a:p>
        </p:txBody>
      </p:sp>
      <p:pic>
        <p:nvPicPr>
          <p:cNvPr id="18" name="Picture 17" descr="SPY_close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1700000"/>
            <a:ext cx="5500000" cy="23345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0000" y="56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>
                <a:solidFill>
                  <a:srgbClr val="666666"/>
                </a:solidFill>
                <a:latin typeface="微软雅黑"/>
              </a:defRPr>
            </a:pPr>
            <a:r>
              <a:t>数据质量：日期单调递增，无重复；核心字段缺失值为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特征工程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5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在 OHLCV 基础上构建 9 项技术特征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" y="1400000"/>
            <a:ext cx="3000000" cy="80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000" y="1450000"/>
            <a:ext cx="2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7A0E1E"/>
                </a:solidFill>
                <a:latin typeface="微软雅黑"/>
              </a:defRPr>
            </a:pPr>
            <a:r>
              <a:t>收益变化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16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return_1d / return_5d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" y="190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短期与短周期累计变化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0000" y="1400000"/>
            <a:ext cx="3000000" cy="80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0000" y="1450000"/>
            <a:ext cx="2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7A0E1E"/>
                </a:solidFill>
                <a:latin typeface="微软雅黑"/>
              </a:defRPr>
            </a:pPr>
            <a:r>
              <a:t>趋势信息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000" y="16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ma_5 / 10 / 20 /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000" y="190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平滑噪声，描述价格趋势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0000" y="1400000"/>
            <a:ext cx="3000000" cy="80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7A0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000" y="1450000"/>
            <a:ext cx="2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7A0E1E"/>
                </a:solidFill>
                <a:latin typeface="微软雅黑"/>
              </a:defRPr>
            </a:pPr>
            <a:r>
              <a:t>风险与位置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00" y="16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volatility_20 / volume_ma_20</a:t>
            </a:r>
            <a:br/>
            <a:r>
              <a:t>close_ma20_ratio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00" y="190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波动、活跃度与相对位置</a:t>
            </a:r>
          </a:p>
        </p:txBody>
      </p:sp>
      <p:pic>
        <p:nvPicPr>
          <p:cNvPr id="20" name="Picture 19" descr="SPY_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2600000"/>
            <a:ext cx="5500000" cy="44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00000" y="2800000"/>
            <a:ext cx="4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滚动窗口产生初始缺失值</a:t>
            </a:r>
            <a:br/>
            <a:r>
              <a:t>删除后：2707 行 x 15 列</a:t>
            </a:r>
            <a:br/>
            <a:br/>
            <a:r>
              <a:t>OHLC 和均线高度相关</a:t>
            </a:r>
            <a:br/>
            <a:r>
              <a:t>因为它们都来自价格水平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机器学习模型结果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000" y="950000"/>
            <a:ext cx="35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990000"/>
            <a:ext cx="34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1A5C8A"/>
                </a:solidFill>
                <a:latin typeface="微软雅黑"/>
              </a:defRPr>
            </a:pPr>
            <a:r>
              <a:t>0.5886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40000"/>
            <a:ext cx="34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逻辑回归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0" y="950000"/>
            <a:ext cx="35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0000" y="990000"/>
            <a:ext cx="34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993300"/>
                </a:solidFill>
                <a:latin typeface="微软雅黑"/>
              </a:defRPr>
            </a:pPr>
            <a:r>
              <a:t>0.4188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000" y="1240000"/>
            <a:ext cx="34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随机森林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17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逻辑回归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2100000"/>
            <a:ext cx="4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recall = 1.0，542 个样本全部预测为上涨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准确率 = 上涨类别占比 (58.86%)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存在明显类别偏向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3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随机森林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3700000"/>
            <a:ext cx="4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上涨 recall = 0.0282，仅预测少量上涨日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当前特征和参数下泛化不足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accuracy 必须结合 precision / recall / F1 阅读</a:t>
            </a:r>
          </a:p>
        </p:txBody>
      </p:sp>
      <p:pic>
        <p:nvPicPr>
          <p:cNvPr id="17" name="Picture 16" descr="SPY_model_predi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1700000"/>
            <a:ext cx="5500000" cy="30555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000" y="55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1">
                <a:solidFill>
                  <a:srgbClr val="1A5C8A"/>
                </a:solidFill>
                <a:latin typeface="微软雅黑"/>
              </a:defRPr>
            </a:pPr>
            <a:r>
              <a:t>结论：逻辑回归相对较好，但不能只看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LSTM 模型结果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000" y="950000"/>
            <a:ext cx="35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990000"/>
            <a:ext cx="34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1A5C8A"/>
                </a:solidFill>
                <a:latin typeface="微软雅黑"/>
              </a:defRPr>
            </a:pPr>
            <a:r>
              <a:t>0.4540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40000"/>
            <a:ext cx="34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LSTM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0" y="950000"/>
            <a:ext cx="35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0000" y="990000"/>
            <a:ext cx="34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993300"/>
                </a:solidFill>
                <a:latin typeface="微软雅黑"/>
              </a:defRPr>
            </a:pPr>
            <a:r>
              <a:t>0.4916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000" y="1240000"/>
            <a:ext cx="34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LSTM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17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实验设置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2100000"/>
            <a:ext cx="4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输入：连续 20 个交易日的技术特征窗口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输出：下一交易日涨跌标签 (二分类)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模型：单层 LSTM (hidden=32)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训练：30 轮，BCELoss + Adam (lr=0.001)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测试集：522 个序列样本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" y="39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结果解释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4300000"/>
            <a:ext cx="4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AUC 接近 0.5，区分能力接近随机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深度模型不一定优于简单基线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金融短期预测噪声较大</a:t>
            </a:r>
          </a:p>
        </p:txBody>
      </p:sp>
      <p:pic>
        <p:nvPicPr>
          <p:cNvPr id="17" name="Picture 16" descr="SPY_lstm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1700000"/>
            <a:ext cx="5500000" cy="193371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回测与风险评估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0000" y="950000"/>
            <a:ext cx="26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990000"/>
            <a:ext cx="25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006600"/>
                </a:solidFill>
                <a:latin typeface="微软雅黑"/>
              </a:defRPr>
            </a:pPr>
            <a:r>
              <a:t>12.54%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40000"/>
            <a:ext cx="25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SPY 年化收益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000" y="950000"/>
            <a:ext cx="26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0000" y="990000"/>
            <a:ext cx="25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CC0000"/>
                </a:solidFill>
                <a:latin typeface="微软雅黑"/>
              </a:defRPr>
            </a:pPr>
            <a:r>
              <a:t>-34.10%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0000" y="1240000"/>
            <a:ext cx="25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SPY 最大回撤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000" y="950000"/>
            <a:ext cx="2600000" cy="48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0000" y="990000"/>
            <a:ext cx="25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1">
                <a:solidFill>
                  <a:srgbClr val="1A5C8A"/>
                </a:solidFill>
                <a:latin typeface="微软雅黑"/>
              </a:defRPr>
            </a:pPr>
            <a:r>
              <a:t>0.7019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0000" y="1240000"/>
            <a:ext cx="254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Sharpe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17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风险指标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2100000"/>
            <a:ext cx="4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年化波动率：17.86%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Calmar Ratio：0.3676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VaR 95%：-1.68%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CVaR 95%：-2.73%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37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简化 RF 策略回测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" y="4100000"/>
            <a:ext cx="4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策略：RF 预测上涨时持有，否则空仓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信号 shift(1) 避免未来函数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回测 Sharpe：1.1981 | 最大回撤：-0.87%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未扣交易成本、滑点或税费</a:t>
            </a:r>
          </a:p>
        </p:txBody>
      </p:sp>
      <p:pic>
        <p:nvPicPr>
          <p:cNvPr id="20" name="Picture 19" descr="SPY_strategy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1700000"/>
            <a:ext cx="5500000" cy="233189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强化学习与 Q-learning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5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交易环境设计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350000"/>
            <a:ext cx="4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状态：return_1d / close_ma20_ratio / volatility_20 离散化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动作：0=空仓，1=持有 SPY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奖励：下一期持仓收益 - 仓位变化成本 (0.1%)</a:t>
            </a:r>
          </a:p>
          <a:p>
            <a:pPr>
              <a:lnSpc>
                <a:spcPts val="1800"/>
              </a:lnSpc>
              <a:defRPr sz="1100">
                <a:solidFill>
                  <a:srgbClr val="2D2D2D"/>
                </a:solidFill>
                <a:latin typeface="微软雅黑"/>
              </a:defRPr>
            </a:pPr>
            <a:r>
              <a:t>  状态空间：3x3x3 = 27 个离散状态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9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三策略对比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3300000"/>
            <a:ext cx="3100000" cy="7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3350000"/>
            <a:ext cx="3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CC0000"/>
                </a:solidFill>
                <a:latin typeface="微软雅黑"/>
              </a:defRPr>
            </a:pPr>
            <a:r>
              <a:t>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58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1">
                <a:solidFill>
                  <a:srgbClr val="CC0000"/>
                </a:solidFill>
                <a:latin typeface="微软雅黑"/>
              </a:defRPr>
            </a:pPr>
            <a:r>
              <a:t>-57.64%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000" y="3300000"/>
            <a:ext cx="3100000" cy="7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000" y="3350000"/>
            <a:ext cx="3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006600"/>
                </a:solidFill>
                <a:latin typeface="微软雅黑"/>
              </a:defRPr>
            </a:pPr>
            <a:r>
              <a:t>Buy &amp; 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000" y="358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1">
                <a:solidFill>
                  <a:srgbClr val="006600"/>
                </a:solidFill>
                <a:latin typeface="微软雅黑"/>
              </a:defRPr>
            </a:pPr>
            <a:r>
              <a:t>+227.12%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0000" y="3300000"/>
            <a:ext cx="3100000" cy="7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0000" y="3350000"/>
            <a:ext cx="3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>
                <a:solidFill>
                  <a:srgbClr val="1A5C8A"/>
                </a:solidFill>
                <a:latin typeface="微软雅黑"/>
              </a:defRPr>
            </a:pPr>
            <a:r>
              <a:t>Q-learning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0000" y="358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1">
                <a:solidFill>
                  <a:srgbClr val="1A5C8A"/>
                </a:solidFill>
                <a:latin typeface="微软雅黑"/>
              </a:defRPr>
            </a:pPr>
            <a:r>
              <a:t>+6.56%</a:t>
            </a:r>
          </a:p>
        </p:txBody>
      </p:sp>
      <p:pic>
        <p:nvPicPr>
          <p:cNvPr id="19" name="Picture 18" descr="SPY_rl_qlearning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4300000"/>
            <a:ext cx="5500000" cy="232773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00000" y="4400000"/>
            <a:ext cx="4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Q-learning 未超过买入持有</a:t>
            </a:r>
            <a:br/>
            <a:br/>
            <a:r>
              <a:t>原因：研究期 SPY 长期上涨</a:t>
            </a:r>
            <a:br/>
            <a:r>
              <a:t>仅 3 个离散化特征</a:t>
            </a:r>
            <a:br/>
            <a:r>
              <a:t>动作只有空仓和持有</a:t>
            </a:r>
            <a:br/>
            <a:r>
              <a:t>训练仅 50 轮</a:t>
            </a:r>
            <a:br/>
            <a:br/>
            <a:r>
              <a:t>价值在于完成 RL 流程并如实呈现局限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000" cy="6858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>
                <a:solidFill>
                  <a:srgbClr val="7A0E1E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" y="720000"/>
            <a:ext cx="2000000" cy="12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5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7A0E1E"/>
                </a:solidFill>
                <a:latin typeface="微软雅黑"/>
              </a:defRPr>
            </a:pPr>
            <a:r>
              <a:t>核心结论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400000"/>
            <a:ext cx="10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完成从数据获取到强化学习实验的完整流程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逻辑回归相对较好，但存在明显类别偏向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LSTM AUC 接近 0.5，短期区分能力有限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Q-learning 获得正收益 (+6.56%)，但显著弱于买入持有 (+227.12%)</a:t>
            </a:r>
          </a:p>
          <a:p>
            <a:pPr>
              <a:lnSpc>
                <a:spcPts val="2000"/>
              </a:lnSpc>
              <a:defRPr sz="1200">
                <a:solidFill>
                  <a:srgbClr val="2D2D2D"/>
                </a:solidFill>
                <a:latin typeface="微软雅黑"/>
              </a:defRPr>
            </a:pPr>
            <a:r>
              <a:t>  风险指标显示：长期上涨仍伴随显著下行风险 (最大回撤 -34.10%)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35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>
                <a:solidFill>
                  <a:srgbClr val="7A0E1E"/>
                </a:solidFill>
                <a:latin typeface="微软雅黑"/>
              </a:defRPr>
            </a:pPr>
            <a:r>
              <a:t>可拓展方向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3950000"/>
            <a:ext cx="1900000" cy="80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3990000"/>
            <a:ext cx="1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4200000"/>
            <a:ext cx="1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更多特征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4430000"/>
            <a:ext cx="1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宏观 / 情绪 / 基本面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0000" y="3950000"/>
            <a:ext cx="1900000" cy="80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0000" y="3990000"/>
            <a:ext cx="1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0000" y="4200000"/>
            <a:ext cx="1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多资产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0000" y="4430000"/>
            <a:ext cx="1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组合风险分散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0000" y="3950000"/>
            <a:ext cx="1900000" cy="80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0000" y="3990000"/>
            <a:ext cx="1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0000" y="4200000"/>
            <a:ext cx="1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滚动训练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0000" y="4430000"/>
            <a:ext cx="1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严格样本外验证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0000" y="3950000"/>
            <a:ext cx="1900000" cy="80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0000" y="3990000"/>
            <a:ext cx="1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0000" y="4200000"/>
            <a:ext cx="1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真实约束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0000" y="4430000"/>
            <a:ext cx="1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成本 / 滑点 / 执行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0000" y="3950000"/>
            <a:ext cx="1900000" cy="800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0000" y="3990000"/>
            <a:ext cx="1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7A0E1E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0000" y="4200000"/>
            <a:ext cx="19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高级 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0000" y="4430000"/>
            <a:ext cx="1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DQN / PPO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000" y="5600000"/>
            <a:ext cx="10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100" b="1">
                <a:solidFill>
                  <a:srgbClr val="7A0E1E"/>
                </a:solidFill>
                <a:latin typeface="微软雅黑"/>
              </a:defRPr>
            </a:pPr>
            <a:r>
              <a:t>本项目仅用于课程实验，不构成投资建议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000" y="6400000"/>
            <a:ext cx="11300000" cy="15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400000"/>
            <a:ext cx="12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3600" b="1">
                <a:solidFill>
                  <a:srgbClr val="7A0E1E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0">
                <a:solidFill>
                  <a:srgbClr val="666666"/>
                </a:solidFill>
                <a:latin typeface="微软雅黑"/>
              </a:defRPr>
            </a:pPr>
            <a:r>
              <a:t>敬请指导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000" y="4000000"/>
            <a:ext cx="2600000" cy="10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300000"/>
            <a:ext cx="1219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基于机器学习与强化学习的股票交易策略建模及量化风险评估研究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0000" y="645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00"/>
              </a:lnSpc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