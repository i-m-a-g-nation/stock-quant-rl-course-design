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各位老师好，我汇报的题目是《基于机器学习与强化学习的股票交易策略建模及量化风险评估研究》。本项目围绕 SPY 历史数据，完成数据清洗、特征工程、传统机器学习、LSTM、风险评估和 Q-learning 实验。汇报重点是完整流程和客观分析，不把课程实验包装成实际投资策略。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融数据的特点是噪声大、影响因素多、分布还会随时间变化。因此，这个项目的目标不是追求漂亮的收益数字，而是完成一条可复现的数据挖掘流程，并学会谨慎解释结果。答辩中我会把预测结果、风险指标和强化学习局限放在同一个框架里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总体流程从 SPY 数据获取开始，依次完成清洗、特征工程、传统机器学习、LSTM、风险评估与回测，再构建 Q-learning 强化学习环境。这里有两个需要强调的原则：第一，金融数据要按时间顺序划分训练和测试集；第二，今天生成的信号只能作用于下一期，避免未来信息泄漏。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数据通过 yfinance 获取，研究对象是跟踪标普 500 的 ETF：SPY。设置的区间是 2015-01-01 到 2026-01-01，由于接口结束日期为开区间，实际覆盖到 2025-12-31，共 2766 个交易日。清洗后核心字段没有缺失，日期没有重复，图中可以看到长期上涨趋势和阶段性回撤。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第二阶段在原始字段上新增 9 项技术特征。收益率描述变化，移动均线描述趋势，波动率描述风险，成交量均线描述活跃度，价格均线比描述相对位置。右侧热力图可以看到，多条均线之间相关性很高，这也提醒我们特征并不是越多越好。滚动窗口删除初始缺失值后，得到 2707 行、15 列数据。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传统机器学习部分比较逻辑回归和随机森林。逻辑回归准确率是 0.5886，看起来相对较高，但它的召回率是 1，原因是把 542 个测试样本全部预测成上涨。因此这个结果主要反映类别分布，不能理解为模型学到了稳定规律。随机森林准确率 0.4188，上涨召回率只有 0.0282，也说明泛化不足。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LSTM 使用 20 日回看窗口预测下一交易日方向，测试集有 522 个序列。准确率是 0.4540，AUC 是 0.4916。AUC 接近 0.5，说明正负类别的排序区分能力有限。训练曲线中测试表现波动较大，也反映出金融短期预测信号较弱。这里的重点是完成序列建模流程，不是夸大深度模型效果。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风险评估基于 SPY 市场收益率。完整市场序列口径下，SPY 年化收益率为 12.54%，年化波动率为 17.86%，Sharpe 比率为 0.7019，最大回撤达到 -34.10%。历史 VaR 95% 是 -1.68%，CVaR 95% 是 -2.73%。这说明长期上涨过程中仍可能经历明显下行风险，不能只看最终收益。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强化学习部分构建了简化环境。状态由三个技术特征离散化得到，动作只有空仓和持有，奖励是下一期持仓收益减去变仓成本。Q-learning 的累计收益率是 +6.56%，买入持有是 +227.12%。Q-learning 没有超过基线，但这并不等于实验失败，因为本阶段的重点是完成环境、奖励、价值更新和策略比较流程。这个结果也不能视为严格样本外泛化能力。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最后总结。本项目完成了完整的金融数据挖掘流程。逻辑回归相对较好，但存在类别偏向；LSTM 的 AUC 接近 0.5；Q-learning 没有超过买入持有；同时 SPY 最大回撤说明高收益伴随明显风险。后续可以从更多特征、多资产、滚动训练、更真实成本和更高级强化学习方法继续拓展，但本次课程设计不新增模型、不修改既有结果。谢谢各位老师。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ADEMIC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01568" cy="6858000"/>
          </a:xfrm>
          <a:prstGeom prst="rect">
            <a:avLst/>
          </a:prstGeom>
          <a:solidFill>
            <a:srgbClr val="18324A"/>
          </a:solidFill>
          <a:ln w="10160">
            <a:solidFill>
              <a:srgbClr val="1832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" y="566928"/>
            <a:ext cx="164592" cy="1115568"/>
          </a:xfrm>
          <a:prstGeom prst="rect">
            <a:avLst/>
          </a:prstGeom>
          <a:solidFill>
            <a:srgbClr val="78A9CF"/>
          </a:solidFill>
          <a:ln w="10160">
            <a:solidFill>
              <a:srgbClr val="78A9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62179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湘潭大学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04672" y="1115568"/>
            <a:ext cx="21579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CEA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大数据分析与数据挖掘</a:t>
            </a:r>
            <a:endParaRPr lang="en-US" sz="1900" dirty="0"/>
          </a:p>
          <a:p>
            <a:pPr algn="l" indent="0" marL="0">
              <a:buNone/>
            </a:pPr>
            <a:r>
              <a:rPr lang="en-US" sz="1900" b="1" dirty="0">
                <a:solidFill>
                  <a:srgbClr val="DCEA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课程设计答辩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04672" y="537667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QUANT RL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A8C4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DESIGN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95344" y="1042416"/>
            <a:ext cx="764438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基于机器学习与强化学习的股票交易策略建模及量化风险评估研究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931920" y="267004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931920" y="3127248"/>
            <a:ext cx="7114032" cy="0"/>
          </a:xfrm>
          <a:prstGeom prst="line">
            <a:avLst/>
          </a:prstGeom>
          <a:noFill/>
          <a:ln w="15240">
            <a:solidFill>
              <a:srgbClr val="D9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3364992"/>
            <a:ext cx="37947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学院：自动化与电子信息学院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专业：人工智能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姓名：【待补充】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学号：【待补充】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指导教师：【待补充】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26880" y="54132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6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年 6 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301984" y="653796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8872" cy="438912"/>
          </a:xfrm>
          <a:prstGeom prst="rect">
            <a:avLst/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研究背景与任务目标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229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从金融时间序列的特征出发，明确课程实验边界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6473952"/>
            <a:ext cx="11283696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20272" y="6528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3075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为什么研究这个问题？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477316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金融时间序列具有高噪声、非线性和时序性。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短期方向信号较弱，复杂模型不一定自然优于简单基线。</a:t>
            </a:r>
            <a:endParaRPr lang="en-US" sz="1750" dirty="0"/>
          </a:p>
          <a:p>
            <a:pPr indent="0" marL="0">
              <a:buNone/>
            </a:pPr>
            <a:r>
              <a:rPr lang="en-US" sz="175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收益表现必须结合最大回撤与尾部风险共同解释。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806440" y="130759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本项目要完成什么？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797296" y="1764792"/>
            <a:ext cx="2560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61888" y="19202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6188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64224" y="188366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数据准备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80176" y="22037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获取、清洗并检查 SPY 日线数据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650224" y="1764792"/>
            <a:ext cx="2560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14816" y="19202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14816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17152" y="1883664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模型预测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833104" y="2203704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比较逻辑回归、随机森林与 LSTM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5797296" y="2880360"/>
            <a:ext cx="2560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61888" y="30358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61888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64224" y="29992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风险评估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80176" y="33192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计算回撤、Sharpe、VaR 与 CVaR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8650224" y="2880360"/>
            <a:ext cx="256032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14816" y="30358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14816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217152" y="2999232"/>
            <a:ext cx="18470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833104" y="3319272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完成简化环境与 Q-learning 流程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548640" y="5907024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E8F1F7"/>
          </a:solidFill>
          <a:ln w="10160">
            <a:solidFill>
              <a:srgbClr val="E8F1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5989320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实验定位：用于课程方法验证与风险意识训练，不构成任何实际投资建议。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8872" cy="438912"/>
          </a:xfrm>
          <a:prstGeom prst="rect">
            <a:avLst/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总体技术路线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229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SPY 为对象，按数据层、模型层、评估层逐步推进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6473952"/>
            <a:ext cx="11283696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20272" y="6528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59536" y="3154680"/>
            <a:ext cx="10561320" cy="0"/>
          </a:xfrm>
          <a:prstGeom prst="line">
            <a:avLst/>
          </a:prstGeom>
          <a:noFill/>
          <a:ln w="26670">
            <a:solidFill>
              <a:srgbClr val="78A9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907792"/>
            <a:ext cx="493776" cy="493776"/>
          </a:xfrm>
          <a:prstGeom prst="ellipse">
            <a:avLst/>
          </a:prstGeom>
          <a:solidFill>
            <a:srgbClr val="244D6A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" y="18928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SPY 数据获取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83464" y="23682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Yahoo Finance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932688" y="2642616"/>
            <a:ext cx="0" cy="265176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12264" y="2907792"/>
            <a:ext cx="493776" cy="493776"/>
          </a:xfrm>
          <a:prstGeom prst="ellipse">
            <a:avLst/>
          </a:prstGeom>
          <a:solidFill>
            <a:srgbClr val="244D6A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764792" y="37124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数据清洗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709928" y="416966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质量检查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2359152" y="3401568"/>
            <a:ext cx="0" cy="283464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38728" y="2907792"/>
            <a:ext cx="493776" cy="493776"/>
          </a:xfrm>
          <a:prstGeom prst="ellipse">
            <a:avLst/>
          </a:prstGeom>
          <a:solidFill>
            <a:srgbClr val="244D6A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191256" y="18928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136392" y="23682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项技术特征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3785616" y="2642616"/>
            <a:ext cx="0" cy="265176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192" y="2907792"/>
            <a:ext cx="493776" cy="493776"/>
          </a:xfrm>
          <a:prstGeom prst="ellipse">
            <a:avLst/>
          </a:prstGeom>
          <a:solidFill>
            <a:srgbClr val="3D79A8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65192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617720" y="37124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机器学习预测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562856" y="416966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 / RF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5212080" y="3401568"/>
            <a:ext cx="0" cy="283464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91656" y="2907792"/>
            <a:ext cx="493776" cy="493776"/>
          </a:xfrm>
          <a:prstGeom prst="ellipse">
            <a:avLst/>
          </a:prstGeom>
          <a:solidFill>
            <a:srgbClr val="3D79A8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91656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044184" y="18928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预测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5989320" y="23682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日窗口</a:t>
            </a:r>
            <a:endParaRPr lang="en-US" sz="1130" dirty="0"/>
          </a:p>
        </p:txBody>
      </p:sp>
      <p:sp>
        <p:nvSpPr>
          <p:cNvPr id="33" name="Shape 31"/>
          <p:cNvSpPr/>
          <p:nvPr/>
        </p:nvSpPr>
        <p:spPr>
          <a:xfrm>
            <a:off x="6638544" y="2642616"/>
            <a:ext cx="0" cy="265176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2907792"/>
            <a:ext cx="493776" cy="493776"/>
          </a:xfrm>
          <a:prstGeom prst="ellipse">
            <a:avLst/>
          </a:prstGeom>
          <a:solidFill>
            <a:srgbClr val="3D79A8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470648" y="37124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回测与风险评估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7415784" y="416966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收益与下行风险</a:t>
            </a:r>
            <a:endParaRPr lang="en-US" sz="1130" dirty="0"/>
          </a:p>
        </p:txBody>
      </p:sp>
      <p:sp>
        <p:nvSpPr>
          <p:cNvPr id="38" name="Shape 36"/>
          <p:cNvSpPr/>
          <p:nvPr/>
        </p:nvSpPr>
        <p:spPr>
          <a:xfrm>
            <a:off x="8065008" y="3401568"/>
            <a:ext cx="0" cy="283464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44584" y="2907792"/>
            <a:ext cx="493776" cy="493776"/>
          </a:xfrm>
          <a:prstGeom prst="ellipse">
            <a:avLst/>
          </a:prstGeom>
          <a:solidFill>
            <a:srgbClr val="2E7D62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44584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8897112" y="18928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842248" y="236829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/ 动作 / 奖励</a:t>
            </a:r>
            <a:endParaRPr lang="en-US" sz="1130" dirty="0"/>
          </a:p>
        </p:txBody>
      </p:sp>
      <p:sp>
        <p:nvSpPr>
          <p:cNvPr id="43" name="Shape 41"/>
          <p:cNvSpPr/>
          <p:nvPr/>
        </p:nvSpPr>
        <p:spPr>
          <a:xfrm>
            <a:off x="9491472" y="2642616"/>
            <a:ext cx="0" cy="265176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71048" y="2907792"/>
            <a:ext cx="493776" cy="493776"/>
          </a:xfrm>
          <a:prstGeom prst="ellipse">
            <a:avLst/>
          </a:prstGeom>
          <a:solidFill>
            <a:srgbClr val="2E7D62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671048" y="290779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0323576" y="371246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综合分析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10268712" y="416966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结论与边界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10917936" y="3401568"/>
            <a:ext cx="0" cy="283464"/>
          </a:xfrm>
          <a:prstGeom prst="line">
            <a:avLst/>
          </a:prstGeom>
          <a:noFill/>
          <a:ln w="12700">
            <a:solidFill>
              <a:srgbClr val="D9E1E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" y="5102352"/>
            <a:ext cx="10771632" cy="621792"/>
          </a:xfrm>
          <a:prstGeom prst="roundRect">
            <a:avLst>
              <a:gd name="adj" fmla="val 11765"/>
            </a:avLst>
          </a:prstGeom>
          <a:solidFill>
            <a:srgbClr val="F2F7FA"/>
          </a:solidFill>
          <a:ln w="10160">
            <a:solidFill>
              <a:srgbClr val="F2F7F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7552" y="5285232"/>
            <a:ext cx="10222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关键原则：按时间顺序划分训练与测试数据；信号用于下一期收益；所有结果按既有实验如实呈现。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8872" cy="438912"/>
          </a:xfrm>
          <a:prstGeom prst="rect">
            <a:avLst/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数据集与预处理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229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研究对象：SPY，数据覆盖 2015-01-02 至 2025-12-31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6473952"/>
            <a:ext cx="11283696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20272" y="6528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7160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71600"/>
            <a:ext cx="82296" cy="987552"/>
          </a:xfrm>
          <a:prstGeom prst="roundRect">
            <a:avLst>
              <a:gd name="adj" fmla="val 8888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813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68249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2766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59536" y="208483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清洗前后行数一致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16352" y="1371600"/>
            <a:ext cx="199339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16352" y="1371600"/>
            <a:ext cx="82296" cy="987552"/>
          </a:xfrm>
          <a:prstGeom prst="roundRect">
            <a:avLst>
              <a:gd name="adj" fmla="val 88889"/>
            </a:avLst>
          </a:prstGeom>
          <a:solidFill>
            <a:srgbClr val="2E7D62"/>
          </a:solidFill>
          <a:ln w="10160">
            <a:solidFill>
              <a:srgbClr val="2E7D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48132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核心字段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1682496"/>
            <a:ext cx="16824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E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3017520" y="2084832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OHLCV + Adj Close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633472"/>
            <a:ext cx="4151376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75234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字段说明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" y="3072384"/>
            <a:ext cx="38039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Open、High、Low、Close、Adj Close、Volume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" y="3913632"/>
            <a:ext cx="4151376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32504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预处理步骤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1248" y="4352544"/>
            <a:ext cx="380390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字段筛选 → 缺失值处理 → 日期去重 → 异常检查 → 时间排序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5102352" y="1371600"/>
            <a:ext cx="6446520" cy="4169664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pic>
        <p:nvPicPr>
          <p:cNvPr id="25" name="Image 0" descr="C:\Users\25494\Desktop\大数据课程设计\stock-quant-rl-course-design\outputs\figures\SPY_close_pr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30368" y="1536192"/>
            <a:ext cx="6181344" cy="38404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223760" y="5422392"/>
            <a:ext cx="3950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图：SPY 收盘价及移动均线走势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548640" y="5916168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E8F1F7"/>
          </a:solidFill>
          <a:ln w="10160">
            <a:solidFill>
              <a:srgbClr val="E8F1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5998464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数据质量：日期单调递增，无重复日期；核心字段缺失值为 0。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8872" cy="438912"/>
          </a:xfrm>
          <a:prstGeom prst="rect">
            <a:avLst/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特征工程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229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OHLCV 基础上构建 9 项技术特征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6473952"/>
            <a:ext cx="11283696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20272" y="6528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353312"/>
            <a:ext cx="416052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72184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收益变化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1792224"/>
            <a:ext cx="38130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return_1d、return_5d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刻画短期与短周期累计变化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40080" y="2487168"/>
            <a:ext cx="41605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06040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趋势信息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2960" y="2926080"/>
            <a:ext cx="3813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ma_5、ma_10、ma_20、ma_60</a:t>
            </a:r>
            <a:endParaRPr lang="en-US" sz="1420" dirty="0"/>
          </a:p>
          <a:p>
            <a:pPr algn="l" indent="0" marL="0">
              <a:buNone/>
            </a:pPr>
            <a:r>
              <a:rPr lang="en-US" sz="14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平滑噪声，描述不同窗口的价格趋势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640080" y="3712464"/>
            <a:ext cx="4160520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31336"/>
            <a:ext cx="3813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A96E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风险与相对位置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22960" y="4151376"/>
            <a:ext cx="38130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volatility_20、volume_ma_20、close_ma20_ratio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刻画波动、活跃度与价格相对位置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47488" y="1243584"/>
            <a:ext cx="6473952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pic>
        <p:nvPicPr>
          <p:cNvPr id="18" name="Image 0" descr="C:\Users\25494\Desktop\大数据课程设计\stock-quant-rl-course-design\outputs\figures\SPY_feature_correlation_heat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266944" y="1353312"/>
            <a:ext cx="6062472" cy="416966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897112" y="5513832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图：特征相关性热力图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548640" y="592531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E8F1F7"/>
          </a:solidFill>
          <a:ln w="10160">
            <a:solidFill>
              <a:srgbClr val="E8F1F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9808" y="600760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滚动窗口会产生初始缺失值；统一删除后形成 2707 行 × 15 列特征数据。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8872" cy="438912"/>
          </a:xfrm>
          <a:prstGeom prst="rect">
            <a:avLst/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机器学习模型结果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229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逻辑回归与随机森林：简单基线也需要谨慎解释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6473952"/>
            <a:ext cx="11283696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20272" y="6528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89888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89888"/>
            <a:ext cx="82296" cy="1005840"/>
          </a:xfrm>
          <a:prstGeom prst="roundRect">
            <a:avLst>
              <a:gd name="adj" fmla="val 8888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996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逻辑回归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70078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0.5886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59536" y="212140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当前实验相对较高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61488" y="1389888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1389888"/>
            <a:ext cx="82296" cy="1005840"/>
          </a:xfrm>
          <a:prstGeom prst="roundRect">
            <a:avLst>
              <a:gd name="adj" fmla="val 88889"/>
            </a:avLst>
          </a:prstGeom>
          <a:solidFill>
            <a:srgbClr val="A96E1C"/>
          </a:solidFill>
          <a:ln w="10160">
            <a:solidFill>
              <a:srgbClr val="A96E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14996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随机森林 Accuracy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62656" y="170078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A96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0.4188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2962656" y="212140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泛化表现有限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670048"/>
            <a:ext cx="4041648" cy="1078992"/>
          </a:xfrm>
          <a:prstGeom prst="roundRect">
            <a:avLst>
              <a:gd name="adj" fmla="val 6780"/>
            </a:avLst>
          </a:prstGeom>
          <a:solidFill>
            <a:srgbClr val="FFF8E8"/>
          </a:solidFill>
          <a:ln w="10160">
            <a:solidFill>
              <a:srgbClr val="E9D6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78892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A96E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解释逻辑回归结果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" y="3108960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recall = 1.0000。测试集中 542 个样本均被预测为上涨，准确率主要来自上涨类别占比。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58368" y="3913632"/>
            <a:ext cx="4041648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03250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解释随机森林结果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1248" y="4352544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上涨类别 recall = 0.0282，仅预测少量上涨日，说明当前特征和参数下泛化不足。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4956048" y="1298448"/>
            <a:ext cx="6565392" cy="4361688"/>
          </a:xfrm>
          <a:prstGeom prst="roundRect">
            <a:avLst>
              <a:gd name="adj" fmla="val 1677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pic>
        <p:nvPicPr>
          <p:cNvPr id="25" name="Image 0" descr="C:\Users\25494\Desktop\大数据课程设计\stock-quant-rl-course-design\outputs\figures\SPY_model_prediction_comparis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6360" y="1536192"/>
            <a:ext cx="6144768" cy="376732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001000" y="542239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图：方向预测模型 Accuracy 与 F1 对比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548640" y="592531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E8F1F7"/>
          </a:solidFill>
          <a:ln w="10160">
            <a:solidFill>
              <a:srgbClr val="E8F1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600760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结论：逻辑回归在当前实验中相对较好，但不能只看 Accuracy。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8872" cy="438912"/>
          </a:xfrm>
          <a:prstGeom prst="rect">
            <a:avLst/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模型结果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229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日窗口预测下一交易日涨跌方向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6473952"/>
            <a:ext cx="11283696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20272" y="6528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89888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89888"/>
            <a:ext cx="82296" cy="1005840"/>
          </a:xfrm>
          <a:prstGeom prst="roundRect">
            <a:avLst>
              <a:gd name="adj" fmla="val 8888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996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70078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0.4540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59536" y="212140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测试集 522 个序列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61488" y="1389888"/>
            <a:ext cx="1938528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1389888"/>
            <a:ext cx="82296" cy="1005840"/>
          </a:xfrm>
          <a:prstGeom prst="roundRect">
            <a:avLst>
              <a:gd name="adj" fmla="val 88889"/>
            </a:avLst>
          </a:prstGeom>
          <a:solidFill>
            <a:srgbClr val="B24B4B"/>
          </a:solidFill>
          <a:ln w="10160">
            <a:solidFill>
              <a:srgbClr val="B2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1499616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LSTM AUC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62656" y="1700784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0.4916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2962656" y="212140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接近随机排序水平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688336"/>
            <a:ext cx="404164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80720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" y="3127248"/>
            <a:ext cx="369417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输入为连续 20 个交易日的技术特征窗口，输出为下一交易日涨跌标签。模型训练 30 轮。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58368" y="4096512"/>
            <a:ext cx="4041648" cy="960120"/>
          </a:xfrm>
          <a:prstGeom prst="roundRect">
            <a:avLst>
              <a:gd name="adj" fmla="val 7619"/>
            </a:avLst>
          </a:prstGeom>
          <a:solidFill>
            <a:srgbClr val="FCEEEE"/>
          </a:solidFill>
          <a:ln w="10160">
            <a:solidFill>
              <a:srgbClr val="E6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21538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B24B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1248" y="4535424"/>
            <a:ext cx="3694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接近 0.5，说明当前模型区分能力有限。深度模型不一定优于简单基线。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956048" y="1298448"/>
            <a:ext cx="6565392" cy="4370832"/>
          </a:xfrm>
          <a:prstGeom prst="roundRect">
            <a:avLst>
              <a:gd name="adj" fmla="val 1674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pic>
        <p:nvPicPr>
          <p:cNvPr id="25" name="Image 0" descr="C:\Users\25494\Desktop\大数据课程设计\stock-quant-rl-course-design\outputs\figures\SPY_lstm_training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57216" y="1591056"/>
            <a:ext cx="6144768" cy="347472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613648" y="5248656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图：LSTM 训练与测试曲线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548640" y="592531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E8F1F7"/>
          </a:solidFill>
          <a:ln w="10160">
            <a:solidFill>
              <a:srgbClr val="E8F1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600760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金融短期预测噪声较大；当前结果用于验证序列建模流程。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8872" cy="438912"/>
          </a:xfrm>
          <a:prstGeom prst="rect">
            <a:avLst/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回测与风险评估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229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长期收益不能单独看，还要结合下行风险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6473952"/>
            <a:ext cx="11283696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20272" y="6528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53312"/>
            <a:ext cx="193852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1353312"/>
            <a:ext cx="82296" cy="987552"/>
          </a:xfrm>
          <a:prstGeom prst="roundRect">
            <a:avLst>
              <a:gd name="adj" fmla="val 88889"/>
            </a:avLst>
          </a:prstGeom>
          <a:solidFill>
            <a:srgbClr val="2E7D62"/>
          </a:solidFill>
          <a:ln w="10160">
            <a:solidFill>
              <a:srgbClr val="2E7D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630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SPY 年化收益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9536" y="16642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E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12.54%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59536" y="206654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完整市场序列口径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61488" y="1353312"/>
            <a:ext cx="1938528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1353312"/>
            <a:ext cx="82296" cy="987552"/>
          </a:xfrm>
          <a:prstGeom prst="roundRect">
            <a:avLst>
              <a:gd name="adj" fmla="val 88889"/>
            </a:avLst>
          </a:prstGeom>
          <a:solidFill>
            <a:srgbClr val="B24B4B"/>
          </a:solidFill>
          <a:ln w="10160">
            <a:solidFill>
              <a:srgbClr val="B24B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1463040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SPY 最大回撤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62656" y="1664208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B2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-34.10%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2962656" y="2066544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历史峰值至低点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578608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269748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风险指标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41248" y="3017520"/>
            <a:ext cx="36941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Sharpe = 0.7019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VaR 95% = -1.68%    CVaR 95% = -2.73%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58368" y="3822192"/>
            <a:ext cx="4041648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394106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如何理解？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1248" y="4261104"/>
            <a:ext cx="3694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最大回撤描述历史高点到后续低点的最大跌幅；CVaR 进一步刻画进入最差尾部后的平均损失。</a:t>
            </a:r>
            <a:endParaRPr lang="en-US" sz="1320" dirty="0"/>
          </a:p>
        </p:txBody>
      </p:sp>
      <p:sp>
        <p:nvSpPr>
          <p:cNvPr id="24" name="Shape 22"/>
          <p:cNvSpPr/>
          <p:nvPr/>
        </p:nvSpPr>
        <p:spPr>
          <a:xfrm>
            <a:off x="4956048" y="1280160"/>
            <a:ext cx="6565392" cy="4425696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pic>
        <p:nvPicPr>
          <p:cNvPr id="25" name="Image 0" descr="C:\Users\25494\Desktop\大数据课程设计\stock-quant-rl-course-design\outputs\figures\SPY_strategy_drawdown_curv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57216" y="1536192"/>
            <a:ext cx="6144768" cy="373075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458200" y="537667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图：SPY 与 Q-learning 回撤曲线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548640" y="592531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E8F1F7"/>
          </a:solidFill>
          <a:ln w="10160">
            <a:solidFill>
              <a:srgbClr val="E8F1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49808" y="600760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提示：高累计收益不代表持有过程低风险。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8872" cy="438912"/>
          </a:xfrm>
          <a:prstGeom prst="rect">
            <a:avLst/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强化学习与 Q-learning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229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简化交易环境：完成状态、动作、奖励与价值更新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6473952"/>
            <a:ext cx="11283696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20272" y="6528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58368" y="1316736"/>
            <a:ext cx="404164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435608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3D79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41248" y="1755648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return_1d、close_ma20_ratio、volatility_20 离散化后的市场状态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58368" y="2267712"/>
            <a:ext cx="404164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38658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E7D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41248" y="2706624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= 空仓，1 = 持有 SPY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58368" y="3218688"/>
            <a:ext cx="4041648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3337560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A96E1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1248" y="3657600"/>
            <a:ext cx="3694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下一期持仓收益 - 仓位变化产生的交易成本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658368" y="4297680"/>
            <a:ext cx="19385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4297680"/>
            <a:ext cx="82296" cy="932688"/>
          </a:xfrm>
          <a:prstGeom prst="roundRect">
            <a:avLst>
              <a:gd name="adj" fmla="val 88889"/>
            </a:avLst>
          </a:prstGeom>
          <a:solidFill>
            <a:srgbClr val="2E7D62"/>
          </a:solidFill>
          <a:ln w="10160">
            <a:solidFill>
              <a:srgbClr val="2E7D6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440740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 收益率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9536" y="460857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E7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+6.56%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859536" y="495604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简化环境历史实验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61488" y="4297680"/>
            <a:ext cx="1938528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61488" y="4297680"/>
            <a:ext cx="82296" cy="932688"/>
          </a:xfrm>
          <a:prstGeom prst="roundRect">
            <a:avLst>
              <a:gd name="adj" fmla="val 8888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62656" y="4407408"/>
            <a:ext cx="1627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买入持有收益率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62656" y="4608576"/>
            <a:ext cx="1627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3D7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+227.12%</a:t>
            </a:r>
            <a:endParaRPr lang="en-US" sz="2500" dirty="0"/>
          </a:p>
        </p:txBody>
      </p:sp>
      <p:sp>
        <p:nvSpPr>
          <p:cNvPr id="26" name="Text 24"/>
          <p:cNvSpPr/>
          <p:nvPr/>
        </p:nvSpPr>
        <p:spPr>
          <a:xfrm>
            <a:off x="2962656" y="4956048"/>
            <a:ext cx="16276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长期上涨市场基线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56048" y="1280160"/>
            <a:ext cx="6565392" cy="4425696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pic>
        <p:nvPicPr>
          <p:cNvPr id="28" name="Image 0" descr="C:\Users\25494\Desktop\大数据课程设计\stock-quant-rl-course-design\outputs\figures\SPY_rl_qlearning_equi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57216" y="1536192"/>
            <a:ext cx="6144768" cy="3730752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7543800" y="5376672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图：随机策略、买入持有与 Q-learning 权益曲线</a:t>
            </a:r>
            <a:endParaRPr lang="en-US" sz="1080" dirty="0"/>
          </a:p>
        </p:txBody>
      </p:sp>
      <p:sp>
        <p:nvSpPr>
          <p:cNvPr id="30" name="Shape 27"/>
          <p:cNvSpPr/>
          <p:nvPr/>
        </p:nvSpPr>
        <p:spPr>
          <a:xfrm>
            <a:off x="548640" y="592531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E8F1F7"/>
          </a:solidFill>
          <a:ln w="10160">
            <a:solidFill>
              <a:srgbClr val="E8F1F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600760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 未超过买入持有；价值在于完成 RL 流程并如实呈现局限。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384048"/>
            <a:ext cx="118872" cy="438912"/>
          </a:xfrm>
          <a:prstGeom prst="rect">
            <a:avLst/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29184"/>
            <a:ext cx="10241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13232" y="822960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客观呈现结果，明确课程实验价值与改进方向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38912" y="6473952"/>
            <a:ext cx="11283696" cy="0"/>
          </a:xfrm>
          <a:prstGeom prst="line">
            <a:avLst/>
          </a:prstGeom>
          <a:noFill/>
          <a:ln w="8890">
            <a:solidFill>
              <a:srgbClr val="D9E1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2881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股票趋势预测与量化风险评估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320272" y="6528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575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29844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9808" y="1664208"/>
            <a:ext cx="5559552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3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完成从数据获取到强化学习实验的完整流程。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逻辑回归在当前实验中相对较好，但存在明显类别偏向。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LSTM AUC 接近 0.5，短期区分能力有限。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Q-learning 获得正收益，但显著弱于买入持有。</a:t>
            </a:r>
            <a:endParaRPr lang="en-US" sz="1630" dirty="0"/>
          </a:p>
          <a:p>
            <a:pPr indent="0" marL="0">
              <a:buNone/>
            </a:pPr>
            <a:r>
              <a:rPr lang="en-US" sz="163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风险指标显示：长期上涨仍伴随显著下行风险。</a:t>
            </a:r>
            <a:endParaRPr lang="en-US" sz="1630" dirty="0"/>
          </a:p>
        </p:txBody>
      </p:sp>
      <p:sp>
        <p:nvSpPr>
          <p:cNvPr id="10" name="Text 8"/>
          <p:cNvSpPr/>
          <p:nvPr/>
        </p:nvSpPr>
        <p:spPr>
          <a:xfrm>
            <a:off x="6446520" y="12984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可拓展方向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19088" y="1682496"/>
            <a:ext cx="4681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1837944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1837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86016" y="1801368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更多特征</a:t>
            </a:r>
            <a:endParaRPr lang="en-US" sz="1420" dirty="0"/>
          </a:p>
        </p:txBody>
      </p:sp>
      <p:sp>
        <p:nvSpPr>
          <p:cNvPr id="15" name="Text 13"/>
          <p:cNvSpPr/>
          <p:nvPr/>
        </p:nvSpPr>
        <p:spPr>
          <a:xfrm>
            <a:off x="6601968" y="2121408"/>
            <a:ext cx="433425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宏观、情绪与基本面数据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6419088" y="2395728"/>
            <a:ext cx="4681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551176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5511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86016" y="2514600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多资产组合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6601968" y="2834640"/>
            <a:ext cx="433425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从单一 SPY 扩展至组合风险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419088" y="3108960"/>
            <a:ext cx="4681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3264408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264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86016" y="3227832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滚动训练</a:t>
            </a:r>
            <a:endParaRPr lang="en-US" sz="1420" dirty="0"/>
          </a:p>
        </p:txBody>
      </p:sp>
      <p:sp>
        <p:nvSpPr>
          <p:cNvPr id="25" name="Text 23"/>
          <p:cNvSpPr/>
          <p:nvPr/>
        </p:nvSpPr>
        <p:spPr>
          <a:xfrm>
            <a:off x="6601968" y="3547872"/>
            <a:ext cx="433425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更严格的样本外验证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419088" y="3822192"/>
            <a:ext cx="4681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0" y="3977640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977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86016" y="3941064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更真实约束</a:t>
            </a:r>
            <a:endParaRPr lang="en-US" sz="1420" dirty="0"/>
          </a:p>
        </p:txBody>
      </p:sp>
      <p:sp>
        <p:nvSpPr>
          <p:cNvPr id="30" name="Text 28"/>
          <p:cNvSpPr/>
          <p:nvPr/>
        </p:nvSpPr>
        <p:spPr>
          <a:xfrm>
            <a:off x="6601968" y="4261104"/>
            <a:ext cx="433425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成本、滑点与执行条件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419088" y="4535424"/>
            <a:ext cx="468172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0160">
            <a:solidFill>
              <a:srgbClr val="D9E1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83680" y="4690872"/>
            <a:ext cx="310896" cy="310896"/>
          </a:xfrm>
          <a:prstGeom prst="roundRect">
            <a:avLst>
              <a:gd name="adj" fmla="val 23529"/>
            </a:avLst>
          </a:prstGeom>
          <a:solidFill>
            <a:srgbClr val="3D79A8"/>
          </a:solidFill>
          <a:ln w="10160">
            <a:solidFill>
              <a:srgbClr val="3D79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4690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86016" y="4654296"/>
            <a:ext cx="3968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832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 RL</a:t>
            </a:r>
            <a:endParaRPr lang="en-US" sz="1420" dirty="0"/>
          </a:p>
        </p:txBody>
      </p:sp>
      <p:sp>
        <p:nvSpPr>
          <p:cNvPr id="35" name="Text 33"/>
          <p:cNvSpPr/>
          <p:nvPr/>
        </p:nvSpPr>
        <p:spPr>
          <a:xfrm>
            <a:off x="6601968" y="4974336"/>
            <a:ext cx="4334256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2537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DQN / PPO 等后续拓展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548640" y="5925312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E8F1F7"/>
          </a:solidFill>
          <a:ln w="10160">
            <a:solidFill>
              <a:srgbClr val="E8F1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" y="6007608"/>
            <a:ext cx="10652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44D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本项目仅用于课程实验，不构成投资建议。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66576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79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湘潭大学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股票趋势预测与量化风险评估 - 课程设计答辩</dc:title>
  <dc:subject>基于机器学习与强化学习的股票交易策略建模及量化风险评估研究</dc:subject>
  <dc:creator>stock-quant-rl-course-design</dc:creator>
  <cp:lastModifiedBy>stock-quant-rl-course-design</cp:lastModifiedBy>
  <cp:revision>1</cp:revision>
  <dcterms:created xsi:type="dcterms:W3CDTF">2026-06-02T15:47:47Z</dcterms:created>
  <dcterms:modified xsi:type="dcterms:W3CDTF">2026-06-02T15:47:47Z</dcterms:modified>
</cp:coreProperties>
</file>